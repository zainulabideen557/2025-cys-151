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Inter Medium" panose="020B0604020202020204" charset="0"/>
      <p:regular r:id="rId20"/>
      <p:bold r:id="rId21"/>
      <p:italic r:id="rId22"/>
      <p:boldItalic r:id="rId23"/>
    </p:embeddedFont>
    <p:embeddedFont>
      <p:font typeface="Inter SemiBold" panose="020B0604020202020204" charset="0"/>
      <p:regular r:id="rId24"/>
      <p:bold r:id="rId25"/>
      <p:italic r:id="rId26"/>
      <p:boldItalic r:id="rId27"/>
    </p:embeddedFont>
    <p:embeddedFont>
      <p:font typeface="Space Grotesk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4D8176-E4C1-4B29-A686-9D9520DDD8B1}">
  <a:tblStyle styleId="{E84D8176-E4C1-4B29-A686-9D9520DDD8B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9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1.png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19487" y="2010816"/>
            <a:ext cx="515302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390661" y="2582316"/>
            <a:ext cx="5410676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SecureBank Pro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519487" y="3649116"/>
            <a:ext cx="51530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Data Hiding &amp; Secure Banking System Architecture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519487" y="4460527"/>
            <a:ext cx="51530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Computer Science Department</a:t>
            </a:r>
            <a:endParaRPr/>
          </a:p>
        </p:txBody>
      </p:sp>
      <p:pic>
        <p:nvPicPr>
          <p:cNvPr id="89" name="Google Shape;89;p13" descr="same img yahi rkhni h bs mera name add krna h :zain ul abideen or rollno 2025-cys-151 or dept ko change krna h cyber security 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216182" y="3458616"/>
            <a:ext cx="3847100" cy="364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39391"/>
            <a:ext cx="5276850" cy="385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39391"/>
            <a:ext cx="5276850" cy="385554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71550" y="3087141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71550" y="3572916"/>
            <a:ext cx="44958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Standard beginner projects often leave variables `public`. In a financial system, this allows direct data manipulation.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71550" y="4538662"/>
            <a:ext cx="44958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Without architectural boundaries, unauthorized transactions, negative balances, and data corruption are inevitable.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724650" y="3087141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Solution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724650" y="3572916"/>
            <a:ext cx="44958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Java-based system built strictly on OOP principles. Data is hidden, access is heavily restricted, and modifications require strict validation.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24650" y="4538662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It acts like a real-world API, where the object protects its own state.</a:t>
            </a:r>
            <a:endParaRPr/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1550" y="2468016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24650" y="246801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Introduction: </a:t>
            </a:r>
            <a:r>
              <a:rPr lang="en-US" sz="33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SecureBank?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61294"/>
            <a:ext cx="3486150" cy="3411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261294"/>
            <a:ext cx="3486150" cy="3411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261294"/>
            <a:ext cx="3486150" cy="3411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43100" y="260419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503997" y="3604319"/>
            <a:ext cx="164020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Secure Auth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23925" y="4090094"/>
            <a:ext cx="28003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Encapsulated user credentials ensure passwords are never exposed directly, using protected getter methods.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0" y="260419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4865846" y="3604319"/>
            <a:ext cx="246030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Transaction Guard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95825" y="4090094"/>
            <a:ext cx="28003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Setters include deep validation to block negative amounts and ensure sufficient funds before execution.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86900" y="260419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917781" y="3604319"/>
            <a:ext cx="190023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Audit Logging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67725" y="4090094"/>
            <a:ext cx="28003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Every validated transaction is written to an immutable text file to maintain an accurate history.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33600" y="2832794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05500" y="2832794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96450" y="2832794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</a:t>
            </a:r>
            <a:r>
              <a:rPr lang="en-US" sz="33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Modules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2180510" y="2308919"/>
            <a:ext cx="7830978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OOP Concepts in Practice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3838575" y="3470969"/>
            <a:ext cx="45148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BD5E1"/>
                </a:solidFill>
                <a:latin typeface="Inter Medium"/>
                <a:ea typeface="Inter Medium"/>
                <a:cs typeface="Inter Medium"/>
                <a:sym typeface="Inter Medium"/>
              </a:rPr>
              <a:t>How Java architecture secures the data flow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748063"/>
            <a:ext cx="4943475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581025" y="581025"/>
            <a:ext cx="5190648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Data Hiding &amp; </a:t>
            </a:r>
            <a:r>
              <a:rPr lang="en-US" sz="33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Encapsulation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81025" y="1790700"/>
            <a:ext cx="4943475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81025" y="2557462"/>
            <a:ext cx="519064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First Line of Defense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81025" y="3043237"/>
            <a:ext cx="49434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declaring `balance` and `accountNumber` as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private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we remove direct access. The variables become invisible to external classes.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581025" y="4008983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Changes can only occur through controlled public methods (Setters) that act as security checkpoints.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33425" y="4900463"/>
            <a:ext cx="60022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private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1419522" y="4900463"/>
            <a:ext cx="51449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double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733425" y="5243363"/>
            <a:ext cx="94327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public void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2448371" y="5243363"/>
            <a:ext cx="51449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double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905023" y="5414813"/>
            <a:ext cx="171598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8901112" y="9525"/>
            <a:ext cx="476250" cy="683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0274" y="2089844"/>
            <a:ext cx="3492549" cy="3754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18574" y="2089844"/>
            <a:ext cx="3492549" cy="3754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36700" y="208984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844231" y="3089969"/>
            <a:ext cx="294708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BD5E1"/>
                </a:solidFill>
                <a:latin typeface="Space Grotesk"/>
                <a:ea typeface="Space Grotesk"/>
                <a:cs typeface="Space Grotesk"/>
                <a:sym typeface="Space Grotesk"/>
              </a:rPr>
              <a:t>BaseAccount (Parent)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14400" y="3918644"/>
            <a:ext cx="28067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Holds common protected fields like `accountID` and `ownerName`. Defines abstract method `calculateFee()`.</a:t>
            </a:r>
            <a:endParaRPr/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05475" y="243274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4613005" y="3432869"/>
            <a:ext cx="294708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SavingsAccount (Child)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4683174" y="4261544"/>
            <a:ext cx="28067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Inherits base fields.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Overrides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`calculateFee()` to implement zero monthly fees but strict withdrawal limits.</a:t>
            </a:r>
            <a:endParaRPr/>
          </a:p>
        </p:txBody>
      </p:sp>
      <p:pic>
        <p:nvPicPr>
          <p:cNvPr id="167" name="Google Shape;16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83774" y="243274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8391305" y="3432869"/>
            <a:ext cx="294708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CurrentAccount (Child)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461474" y="4261544"/>
            <a:ext cx="2806749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Inherits base fields.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Overrides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`calculateFee()` to apply standard monthly transaction charges.</a:t>
            </a:r>
            <a:endParaRPr/>
          </a:p>
        </p:txBody>
      </p:sp>
      <p:pic>
        <p:nvPicPr>
          <p:cNvPr id="170" name="Google Shape;17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65300" y="2318444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15025" y="2661344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693324" y="2661344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Inheritance &amp; </a:t>
            </a:r>
            <a:r>
              <a:rPr lang="en-US" sz="33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Polymorphism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300287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914400" y="2300287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Graceful Failure: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System doesn't crash upon invalid input. Custom exceptions handle the logic.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914400" y="3039367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InsufficientFundsException: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Triggered during withdrawals if `amount &gt; balance`.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14400" y="3778448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InvalidTransactionException: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Thrown immediately if a negative deposit is attempted.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914400" y="4517528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Secure Trace: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Exceptions log the unauthorized attempt time to the console without exposing data.</a:t>
            </a:r>
            <a:endParaRPr/>
          </a:p>
        </p:txBody>
      </p:sp>
      <p:pic>
        <p:nvPicPr>
          <p:cNvPr id="185" name="Google Shape;18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2309812"/>
            <a:ext cx="525780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3336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07270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81178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550866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Exception </a:t>
            </a:r>
            <a:r>
              <a:rPr lang="en-US" sz="33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Handling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581025" y="3162151"/>
            <a:ext cx="4886325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0%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81025" y="4495651"/>
            <a:ext cx="48863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Inter Medium"/>
                <a:ea typeface="Inter Medium"/>
                <a:cs typeface="Inter Medium"/>
                <a:sym typeface="Inter Medium"/>
              </a:rPr>
              <a:t>Direct Variable Access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334125" y="2895600"/>
            <a:ext cx="554069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Strict Boundary Control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6334125" y="3381375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By enforcing the rule that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 state variable is public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the surface area for logic errors and malicious tampering drops to zero.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6334125" y="4072830"/>
            <a:ext cx="52768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Private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keeps data isolated.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Protected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allows inherited classes to function smoothly. </a:t>
            </a: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Public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 strictly reserved for safe, validated behavior methods.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Impact of </a:t>
            </a:r>
            <a:r>
              <a:rPr lang="en-US" sz="33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Access Modifiers</a:t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581025" y="581025"/>
            <a:ext cx="5190648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File I/O &amp; </a:t>
            </a:r>
            <a:r>
              <a:rPr lang="en-US" sz="33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Persistence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81025" y="1257300"/>
            <a:ext cx="4943475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/>
          <p:nvPr/>
        </p:nvSpPr>
        <p:spPr>
          <a:xfrm>
            <a:off x="581025" y="2430809"/>
            <a:ext cx="519064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Immutable Audit Logs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81025" y="2916584"/>
            <a:ext cx="49434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Memory is volatile. To simulate a real bank, all validated actions are serialized and appended to `audit_log.txt`.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81025" y="3608040"/>
            <a:ext cx="49434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Using Java's `FileWriter` and `BufferedWriter`, every login, deposit, and failed security attempt is permanently recorded.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914400" y="4573785"/>
            <a:ext cx="46101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Keeps historical state safe.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914400" y="5038576"/>
            <a:ext cx="46101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Allows for offline auditing.</a:t>
            </a:r>
            <a:endParaRPr/>
          </a:p>
        </p:txBody>
      </p:sp>
      <p:pic>
        <p:nvPicPr>
          <p:cNvPr id="217" name="Google Shape;21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607123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5071913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/>
          <p:nvPr/>
        </p:nvSpPr>
        <p:spPr>
          <a:xfrm>
            <a:off x="8901112" y="9525"/>
            <a:ext cx="476250" cy="683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/>
          <p:nvPr/>
        </p:nvSpPr>
        <p:spPr>
          <a:xfrm>
            <a:off x="581025" y="2318444"/>
            <a:ext cx="11029950" cy="3297435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6" name="Google Shape;226;p22"/>
          <p:cNvGraphicFramePr/>
          <p:nvPr/>
        </p:nvGraphicFramePr>
        <p:xfrm>
          <a:off x="581025" y="231844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{E84D8176-E4C1-4B29-A686-9D9520DDD8B1}</a:tableStyleId>
              </a:tblPr>
              <a:tblGrid>
                <a:gridCol w="297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9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EA5E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EA5E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Standard Project (Unsafe)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0EA5E9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SecureBank Pro (OOP)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Variable Scope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Public / Default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4D39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Strictly Private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Modification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Direct Assignment (`x = y`)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4D39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Through Setters &amp; Validation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Negative Deposits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Accepted (Bugs)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Blocked &amp; Logged</a:t>
                      </a:r>
                      <a:endParaRPr/>
                    </a:p>
                  </a:txBody>
                  <a:tcPr marL="2952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Transaction History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Erased on Close</a:t>
                      </a:r>
                      <a:endParaRPr/>
                    </a:p>
                  </a:txBody>
                  <a:tcPr marL="2667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Saved via File I/O</a:t>
                      </a:r>
                      <a:endParaRPr/>
                    </a:p>
                  </a:txBody>
                  <a:tcPr marL="2952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7" name="Google Shape;227;p22"/>
          <p:cNvSpPr/>
          <p:nvPr/>
        </p:nvSpPr>
        <p:spPr>
          <a:xfrm>
            <a:off x="581025" y="2937569"/>
            <a:ext cx="2978794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3559819" y="2937569"/>
            <a:ext cx="4079081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7638901" y="2937569"/>
            <a:ext cx="3972073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97944" y="4495800"/>
            <a:ext cx="1524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77026" y="5160615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77026" y="449580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97944" y="5160615"/>
            <a:ext cx="1524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97944" y="4495800"/>
            <a:ext cx="1524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77026" y="449580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97944" y="5160615"/>
            <a:ext cx="1524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77026" y="5160615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 </a:t>
            </a:r>
            <a:r>
              <a:rPr lang="en-US" sz="33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Comparison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98365"/>
            <a:ext cx="3486150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98365"/>
            <a:ext cx="3486150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98365"/>
            <a:ext cx="3486150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43100" y="274126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1709023" y="3741390"/>
            <a:ext cx="123015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 SDK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923925" y="4227165"/>
            <a:ext cx="28003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Core object-oriented logic, utilizing classes, interfaces, and polymorphism.</a:t>
            </a:r>
            <a:endParaRPr/>
          </a:p>
        </p:txBody>
      </p:sp>
      <p:pic>
        <p:nvPicPr>
          <p:cNvPr id="251" name="Google Shape;251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0" y="274126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3"/>
          <p:cNvSpPr txBox="1"/>
          <p:nvPr/>
        </p:nvSpPr>
        <p:spPr>
          <a:xfrm>
            <a:off x="5565933" y="3741390"/>
            <a:ext cx="106013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 I/O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4695825" y="4227165"/>
            <a:ext cx="28003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File handling for data persistence, reading and appending logs securely.</a:t>
            </a:r>
            <a:endParaRPr/>
          </a:p>
        </p:txBody>
      </p:sp>
      <p:pic>
        <p:nvPicPr>
          <p:cNvPr id="254" name="Google Shape;254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86900" y="274126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9112805" y="3741390"/>
            <a:ext cx="15101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Exceptions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8467725" y="4227165"/>
            <a:ext cx="28003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Custom try-catch blocks to prevent system crashing and ensure stability.</a:t>
            </a:r>
            <a:endParaRPr/>
          </a:p>
        </p:txBody>
      </p:sp>
      <p:pic>
        <p:nvPicPr>
          <p:cNvPr id="257" name="Google Shape;257;p2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209800" y="2969865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3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24550" y="296986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3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77400" y="2969865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3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Technology </a:t>
            </a:r>
            <a:r>
              <a:rPr lang="en-US" sz="33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Stack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52825" y="4240410"/>
            <a:ext cx="50863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4"/>
          <p:cNvSpPr txBox="1"/>
          <p:nvPr/>
        </p:nvSpPr>
        <p:spPr>
          <a:xfrm>
            <a:off x="305276" y="2093565"/>
            <a:ext cx="11581447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EA5E9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581025" y="3255615"/>
            <a:ext cx="1102995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Thank you for your time and attention.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5"/>
          <p:cNvSpPr/>
          <p:nvPr/>
        </p:nvSpPr>
        <p:spPr>
          <a:xfrm>
            <a:off x="581025" y="2497633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81025" y="3480494"/>
            <a:ext cx="1102995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81025" y="347096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81025" y="3470969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81025" y="445383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81025" y="445383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7461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1676400" y="2640508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https://static.vecteezy.com/system/resources/previews/060/580/161/non_2x/futuristic-digital-shield-with-glowing-blue-padlock-icon-representing-cybersecurity-and-data-protection-free-png.png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1676400" y="3084314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id="284" name="Google Shape;28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37290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1676400" y="3623369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https://elements-resized.envatousercontent.com/elements-video-cover-images/files/237864983/Java%20Coding%20590x.jpg?w=500&amp;cf_fit=cover&amp;q=85&amp;format=auto&amp;s=9a6e24a6cd44a7a1c5c459237aa20b2d48b496c9935cd56090063ed0be14b80a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1676400" y="406717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elements.envato.com</a:t>
            </a:r>
            <a:endParaRPr/>
          </a:p>
        </p:txBody>
      </p:sp>
      <p:pic>
        <p:nvPicPr>
          <p:cNvPr id="287" name="Google Shape;287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471189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1676400" y="4606230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https://media.istockphoto.com/id/1495307294/vector/digital-banking-global-networking-cyber-security-concept-in-futuristic-glowing-low-polygonal.jpg?s=1024x1024&amp;w=is&amp;k=20&amp;c=UdEtHu3cH8GIvx-ljvCatFUJlCp-kv7Jpmfxgt1PKuI=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676400" y="505003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www.istockphoto.com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291" name="Google Shape;291;p25"/>
          <p:cNvSpPr/>
          <p:nvPr/>
        </p:nvSpPr>
        <p:spPr>
          <a:xfrm>
            <a:off x="581025" y="12573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705</Words>
  <Application>Microsoft Office PowerPoint</Application>
  <PresentationFormat>Widescreen</PresentationFormat>
  <Paragraphs>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Inter</vt:lpstr>
      <vt:lpstr>Arial</vt:lpstr>
      <vt:lpstr>Inter SemiBold</vt:lpstr>
      <vt:lpstr>Calibri</vt:lpstr>
      <vt:lpstr>Inter Medium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zain ul abideen</cp:lastModifiedBy>
  <cp:revision>1</cp:revision>
  <dcterms:modified xsi:type="dcterms:W3CDTF">2026-06-27T09:05:33Z</dcterms:modified>
</cp:coreProperties>
</file>